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8" r:id="rId8"/>
    <p:sldId id="261" r:id="rId9"/>
    <p:sldId id="262" r:id="rId10"/>
    <p:sldId id="269" r:id="rId11"/>
    <p:sldId id="263" r:id="rId12"/>
    <p:sldId id="264" r:id="rId13"/>
    <p:sldId id="265" r:id="rId14"/>
    <p:sldId id="266" r:id="rId15"/>
    <p:sldId id="267" r:id="rId16"/>
  </p:sldIdLst>
  <p:sldSz cx="9144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 u="sng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 u="sng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" y="0"/>
            <a:ext cx="9143998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154" y="134604"/>
            <a:ext cx="7783253" cy="1008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098" y="1118599"/>
            <a:ext cx="8719543" cy="4648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 u="sng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9144000" cy="68503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26251" cy="6858000"/>
            <a:chOff x="0" y="0"/>
            <a:chExt cx="9126251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9126251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0414" y="2060848"/>
              <a:ext cx="6306820" cy="0"/>
            </a:xfrm>
            <a:custGeom>
              <a:avLst/>
              <a:gdLst/>
              <a:ahLst/>
              <a:cxnLst/>
              <a:rect l="l" t="t" r="r" b="b"/>
              <a:pathLst>
                <a:path w="6306820">
                  <a:moveTo>
                    <a:pt x="0" y="0"/>
                  </a:moveTo>
                  <a:lnTo>
                    <a:pt x="6306545" y="0"/>
                  </a:lnTo>
                </a:path>
              </a:pathLst>
            </a:custGeom>
            <a:ln w="9525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pPr algn="ctr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3968" y="150274"/>
              <a:ext cx="6396065" cy="92087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687563" y="2172603"/>
            <a:ext cx="3883025" cy="7550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096010" marR="5080" indent="-1083945">
              <a:lnSpc>
                <a:spcPct val="101000"/>
              </a:lnSpc>
              <a:spcBef>
                <a:spcPts val="80"/>
              </a:spcBef>
            </a:pPr>
            <a:r>
              <a:rPr lang="en-US" altLang="" sz="2400" b="1" spc="-40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Second</a:t>
            </a:r>
            <a:r>
              <a:rPr sz="2400" b="1" spc="-40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 Year </a:t>
            </a:r>
            <a:r>
              <a:rPr sz="2400" b="1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Project</a:t>
            </a:r>
            <a:r>
              <a:rPr sz="2400" b="1" spc="-40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Synopsis </a:t>
            </a:r>
            <a:r>
              <a:rPr sz="2400" b="1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Submitted</a:t>
            </a:r>
            <a:r>
              <a:rPr sz="2400" b="1" spc="-114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5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by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95450" y="3079750"/>
          <a:ext cx="6184900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ROLL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NAME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2401010056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Ananya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Sharma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2401010055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Diksha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Kumari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2401010113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Krishika</a:t>
                      </a:r>
                      <a:r>
                        <a:rPr sz="1800" spc="-10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Sinha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2401010033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Taniya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2401010063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520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Shikha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97429" y="1208722"/>
            <a:ext cx="5596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Disaster</a:t>
            </a:r>
            <a:r>
              <a:rPr sz="4000" spc="-2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Allocation</a:t>
            </a:r>
            <a:r>
              <a:rPr sz="4000" spc="-204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System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180" y="5722173"/>
            <a:ext cx="4087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Faculty</a:t>
            </a:r>
            <a:r>
              <a:rPr sz="1800" b="1" spc="-45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Mentor:</a:t>
            </a:r>
            <a:r>
              <a:rPr sz="1800" b="1" spc="-40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 Mr. </a:t>
            </a:r>
            <a:r>
              <a:rPr sz="1800" b="1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Nandan</a:t>
            </a:r>
            <a:r>
              <a:rPr sz="1800" b="1" spc="-40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Kumar</a:t>
            </a:r>
            <a:r>
              <a:rPr sz="1800" b="1" spc="-45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0070C0"/>
                </a:solidFill>
                <a:latin typeface="Calibri" panose="020F0502020204030204"/>
                <a:cs typeface="Calibri" panose="020F0502020204030204"/>
              </a:rPr>
              <a:t>Mishra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97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55" dirty="0"/>
              <a:t> </a:t>
            </a:r>
            <a:r>
              <a:rPr spc="-10" dirty="0"/>
              <a:t>Overview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5882" rIns="0" bIns="0" rtlCol="0">
            <a:spAutoFit/>
          </a:bodyPr>
          <a:lstStyle/>
          <a:p>
            <a:pPr marL="150495" marR="8890" algn="l">
              <a:lnSpc>
                <a:spcPts val="2000"/>
              </a:lnSpc>
              <a:spcBef>
                <a:spcPts val="200"/>
              </a:spcBef>
            </a:pP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comprehensive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web-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developed</a:t>
            </a:r>
            <a:r>
              <a:rPr sz="1700"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support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planning,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coordination,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0" dirty="0">
                <a:latin typeface="Times New Roman" panose="02020603050405020304"/>
                <a:cs typeface="Times New Roman" panose="02020603050405020304"/>
              </a:rPr>
              <a:t>disaster-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related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activities.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Disasters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floods,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earthquakes,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cyclones,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fires,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pandemics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cause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severe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damage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life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0" dirty="0">
                <a:latin typeface="Times New Roman" panose="02020603050405020304"/>
                <a:cs typeface="Times New Roman" panose="02020603050405020304"/>
              </a:rPr>
              <a:t>property,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managing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situations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0" dirty="0">
                <a:latin typeface="Times New Roman" panose="02020603050405020304"/>
                <a:cs typeface="Times New Roman" panose="02020603050405020304"/>
              </a:rPr>
              <a:t>requires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timely</a:t>
            </a:r>
            <a:r>
              <a:rPr sz="1700" b="0" u="none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information,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proper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0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allocation,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coordinated communication.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50495" marR="5080" algn="l">
              <a:lnSpc>
                <a:spcPts val="2000"/>
              </a:lnSpc>
              <a:spcBef>
                <a:spcPts val="1200"/>
              </a:spcBef>
            </a:pP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1700" b="0" u="none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700" b="0" u="none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aims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1700" b="0" u="none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digital</a:t>
            </a:r>
            <a:r>
              <a:rPr sz="1700" b="0" u="none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700" b="0" u="none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enables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authorities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organizations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information,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handle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requests,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1700" b="0" u="none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0" dirty="0">
                <a:latin typeface="Times New Roman" panose="02020603050405020304"/>
                <a:cs typeface="Times New Roman" panose="02020603050405020304"/>
              </a:rPr>
              <a:t>resources,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allocate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them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effectively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affected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areas.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ensures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smooth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logic,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MongoDB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serving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database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management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storage.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50495" marR="73025" algn="l">
              <a:lnSpc>
                <a:spcPts val="2000"/>
              </a:lnSpc>
              <a:spcBef>
                <a:spcPts val="1200"/>
              </a:spcBef>
            </a:pP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developed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HTML,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CSS,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JavaScript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frontend,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backend functionalities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handle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authentication,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management,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20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handling,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database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communication.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focuses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accuracy,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scalability,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ease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1700"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better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sz="1700" b="0" u="none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0" u="none" spc="-10" dirty="0">
                <a:latin typeface="Times New Roman" panose="02020603050405020304"/>
                <a:cs typeface="Times New Roman" panose="02020603050405020304"/>
              </a:rPr>
              <a:t>management.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52" y="187201"/>
            <a:ext cx="43376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Specific</a:t>
            </a:r>
            <a:r>
              <a:rPr spc="-155" dirty="0"/>
              <a:t> </a:t>
            </a:r>
            <a:r>
              <a:rPr spc="-10" dirty="0"/>
              <a:t>Objectives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8251" y="1118599"/>
            <a:ext cx="8054975" cy="368300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objectives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are: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web-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managing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disaster-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related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information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authentication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role-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control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collect,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store,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update,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database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 algn="l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resources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supplies,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rescue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teams,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shelters,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equipment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allocate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resources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efficiently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severity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location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monitor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activities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generate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reports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administrative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planning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6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smooth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frontend,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backend,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database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51" y="187201"/>
            <a:ext cx="3006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855" algn="l"/>
              </a:tabLst>
            </a:pPr>
            <a:r>
              <a:rPr spc="-25" dirty="0"/>
              <a:t>Key</a:t>
            </a:r>
            <a:r>
              <a:rPr dirty="0"/>
              <a:t>	</a:t>
            </a:r>
            <a:r>
              <a:rPr spc="-10" dirty="0"/>
              <a:t>Features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3271" y="1070268"/>
            <a:ext cx="5375910" cy="453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b="1" i="0" u="sng" spc="-7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Authentication</a:t>
            </a:r>
            <a:r>
              <a:rPr sz="1700" b="1" i="0" u="sng" spc="-2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b="1" i="0" u="sng" spc="-6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u="sng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Authorization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5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700" i="0" spc="-44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i="0" spc="-30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registration</a:t>
            </a:r>
            <a:r>
              <a:rPr sz="1700" i="0" spc="-3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30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login</a:t>
            </a:r>
            <a:r>
              <a:rPr sz="1700" i="0" spc="-3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Role-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administrators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authorized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users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Protection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sensitive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authentication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mechanisms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7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b="1" i="0" u="sng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700" b="1" i="0" u="sng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Collection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Entry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type,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location,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severity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level,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status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Ability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to update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disaster information as the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situation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changes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storage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30" baseline="3000" dirty="0">
                <a:latin typeface="Times New Roman" panose="02020603050405020304"/>
                <a:cs typeface="Times New Roman" panose="02020603050405020304"/>
              </a:rPr>
              <a:t>data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7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1700" b="1" i="0" u="sng" spc="-4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u="sng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Management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various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resources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food,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aid,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shelters,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rescue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teams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Tracking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resource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availability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usage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Font typeface="Times New Roman" panose="02020603050405020304"/>
              <a:buChar char="•"/>
              <a:tabLst>
                <a:tab pos="469265" algn="l"/>
              </a:tabLst>
            </a:pP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Updating</a:t>
            </a:r>
            <a:r>
              <a:rPr sz="1700" i="0" spc="-30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5" baseline="3000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1700" i="0" spc="-30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status</a:t>
            </a:r>
            <a:r>
              <a:rPr sz="1700" i="0" spc="-30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baseline="3000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1700" i="0" spc="-2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30" baseline="300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1700" i="0" baseline="3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endParaRPr sz="1700" i="0" baseline="3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54" y="134604"/>
            <a:ext cx="7783253" cy="1477010"/>
          </a:xfrm>
        </p:spPr>
        <p:txBody>
          <a:bodyPr/>
          <a:p>
            <a:r>
              <a:rPr lang="en-US"/>
              <a:t>Key Features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98" y="1118599"/>
            <a:ext cx="8719543" cy="1547495"/>
          </a:xfrm>
        </p:spPr>
        <p:txBody>
          <a:bodyPr/>
          <a:p>
            <a:pPr>
              <a:spcBef>
                <a:spcPts val="1045"/>
              </a:spcBef>
            </a:pPr>
            <a:r>
              <a:rPr sz="1700" spc="-10" dirty="0">
                <a:uFill>
                  <a:solidFill>
                    <a:srgbClr val="000000"/>
                  </a:solidFill>
                </a:uFill>
                <a:sym typeface="+mn-ea"/>
              </a:rPr>
              <a:t>Resource</a:t>
            </a:r>
            <a:r>
              <a:rPr sz="1700" spc="-5" dirty="0">
                <a:uFill>
                  <a:solidFill>
                    <a:srgbClr val="000000"/>
                  </a:solidFill>
                </a:uFill>
                <a:sym typeface="+mn-ea"/>
              </a:rPr>
              <a:t> </a:t>
            </a:r>
            <a:r>
              <a:rPr sz="1700" spc="-10" dirty="0">
                <a:uFill>
                  <a:solidFill>
                    <a:srgbClr val="000000"/>
                  </a:solidFill>
                </a:uFill>
                <a:sym typeface="+mn-ea"/>
              </a:rPr>
              <a:t>Allocation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>
              <a:spcBef>
                <a:spcPts val="50"/>
              </a:spcBef>
            </a:pP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sz="1700" b="0" u="none" baseline="3000" dirty="0">
                <a:sym typeface="+mn-ea"/>
              </a:rPr>
              <a:t>Allocation of</a:t>
            </a:r>
            <a:r>
              <a:rPr sz="1700" b="0" u="none" spc="7" baseline="3000" dirty="0">
                <a:sym typeface="+mn-ea"/>
              </a:rPr>
              <a:t> </a:t>
            </a:r>
            <a:r>
              <a:rPr sz="1700" b="0" u="none" spc="-15" baseline="3000" dirty="0">
                <a:sym typeface="+mn-ea"/>
              </a:rPr>
              <a:t>resources</a:t>
            </a:r>
            <a:r>
              <a:rPr sz="1700" b="0" u="none" spc="7" baseline="3000" dirty="0">
                <a:sym typeface="+mn-ea"/>
              </a:rPr>
              <a:t> </a:t>
            </a:r>
            <a:r>
              <a:rPr sz="1700" b="0" u="none" baseline="3000" dirty="0">
                <a:sym typeface="+mn-ea"/>
              </a:rPr>
              <a:t>to</a:t>
            </a:r>
            <a:r>
              <a:rPr sz="1700" b="0" u="none" spc="7" baseline="3000" dirty="0">
                <a:sym typeface="+mn-ea"/>
              </a:rPr>
              <a:t> </a:t>
            </a:r>
            <a:r>
              <a:rPr sz="1700" b="0" u="none" spc="-15" baseline="3000" dirty="0">
                <a:sym typeface="+mn-ea"/>
              </a:rPr>
              <a:t>disaster-</a:t>
            </a:r>
            <a:r>
              <a:rPr sz="1700" b="0" u="none" baseline="3000" dirty="0">
                <a:sym typeface="+mn-ea"/>
              </a:rPr>
              <a:t>affected</a:t>
            </a:r>
            <a:r>
              <a:rPr sz="1700" b="0" u="none" spc="7" baseline="3000" dirty="0">
                <a:sym typeface="+mn-ea"/>
              </a:rPr>
              <a:t> </a:t>
            </a:r>
            <a:r>
              <a:rPr sz="1700" b="0" u="none" spc="-15" baseline="3000" dirty="0">
                <a:sym typeface="+mn-ea"/>
              </a:rPr>
              <a:t>regions</a:t>
            </a:r>
            <a:endParaRPr sz="1700" b="0" i="0" u="none" baseline="30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spcBef>
                <a:spcPts val="108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sz="1700" b="0" u="none" spc="-15" baseline="3000" dirty="0">
                <a:sym typeface="+mn-ea"/>
              </a:rPr>
              <a:t>Priority-</a:t>
            </a:r>
            <a:r>
              <a:rPr sz="1700" b="0" u="none" baseline="3000" dirty="0">
                <a:sym typeface="+mn-ea"/>
              </a:rPr>
              <a:t>based</a:t>
            </a:r>
            <a:r>
              <a:rPr sz="1700" b="0" u="none" spc="22" baseline="3000" dirty="0">
                <a:sym typeface="+mn-ea"/>
              </a:rPr>
              <a:t> </a:t>
            </a:r>
            <a:r>
              <a:rPr sz="1700" b="0" u="none" spc="-15" baseline="3000" dirty="0">
                <a:sym typeface="+mn-ea"/>
              </a:rPr>
              <a:t>resource</a:t>
            </a:r>
            <a:r>
              <a:rPr sz="1700" b="0" u="none" spc="15" baseline="3000" dirty="0">
                <a:sym typeface="+mn-ea"/>
              </a:rPr>
              <a:t> </a:t>
            </a:r>
            <a:r>
              <a:rPr sz="1700" b="0" u="none" spc="-15" baseline="3000" dirty="0">
                <a:sym typeface="+mn-ea"/>
              </a:rPr>
              <a:t>distribution</a:t>
            </a:r>
            <a:endParaRPr sz="1700" b="0" i="0" u="none" baseline="30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spcBef>
                <a:spcPts val="108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sz="1700" b="0" u="none" baseline="3000" dirty="0">
                <a:sym typeface="+mn-ea"/>
              </a:rPr>
              <a:t>Prevention</a:t>
            </a:r>
            <a:r>
              <a:rPr sz="1700" b="0" u="none" spc="-30" baseline="3000" dirty="0">
                <a:sym typeface="+mn-ea"/>
              </a:rPr>
              <a:t> </a:t>
            </a:r>
            <a:r>
              <a:rPr sz="1700" b="0" u="none" baseline="3000" dirty="0">
                <a:sym typeface="+mn-ea"/>
              </a:rPr>
              <a:t>of</a:t>
            </a:r>
            <a:r>
              <a:rPr sz="1700" b="0" u="none" spc="-30" baseline="3000" dirty="0">
                <a:sym typeface="+mn-ea"/>
              </a:rPr>
              <a:t> </a:t>
            </a:r>
            <a:r>
              <a:rPr sz="1700" b="0" u="none" spc="-15" baseline="3000" dirty="0">
                <a:sym typeface="+mn-ea"/>
              </a:rPr>
              <a:t>resource</a:t>
            </a:r>
            <a:r>
              <a:rPr sz="1700" b="0" u="none" spc="-37" baseline="3000" dirty="0">
                <a:sym typeface="+mn-ea"/>
              </a:rPr>
              <a:t> </a:t>
            </a:r>
            <a:r>
              <a:rPr sz="1700" b="0" u="none" baseline="3000" dirty="0">
                <a:sym typeface="+mn-ea"/>
              </a:rPr>
              <a:t>duplication</a:t>
            </a:r>
            <a:r>
              <a:rPr sz="1700" b="0" u="none" spc="-22" baseline="3000" dirty="0">
                <a:sym typeface="+mn-ea"/>
              </a:rPr>
              <a:t> </a:t>
            </a:r>
            <a:r>
              <a:rPr sz="1700" b="0" u="none" baseline="3000" dirty="0">
                <a:sym typeface="+mn-ea"/>
              </a:rPr>
              <a:t>and</a:t>
            </a:r>
            <a:r>
              <a:rPr sz="1700" b="0" u="none" spc="-30" baseline="3000" dirty="0">
                <a:sym typeface="+mn-ea"/>
              </a:rPr>
              <a:t> </a:t>
            </a:r>
            <a:r>
              <a:rPr sz="1700" b="0" u="none" spc="-15" baseline="3000" dirty="0">
                <a:sym typeface="+mn-ea"/>
              </a:rPr>
              <a:t>misuse</a:t>
            </a:r>
            <a:endParaRPr sz="1700" b="0" i="0" u="none" baseline="3000"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u="none"/>
          </a:p>
        </p:txBody>
      </p:sp>
      <p:sp>
        <p:nvSpPr>
          <p:cNvPr id="4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51" y="187201"/>
            <a:ext cx="58940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19930" algn="l"/>
              </a:tabLst>
            </a:pPr>
            <a:r>
              <a:rPr dirty="0"/>
              <a:t>Project</a:t>
            </a:r>
            <a:r>
              <a:rPr spc="-114" dirty="0"/>
              <a:t> </a:t>
            </a:r>
            <a:r>
              <a:rPr dirty="0"/>
              <a:t>Usecases</a:t>
            </a:r>
            <a:r>
              <a:rPr spc="-110" dirty="0"/>
              <a:t> </a:t>
            </a:r>
            <a:r>
              <a:rPr spc="-50" dirty="0"/>
              <a:t>&amp;</a:t>
            </a:r>
            <a:r>
              <a:rPr dirty="0"/>
              <a:t>	</a:t>
            </a:r>
            <a:r>
              <a:rPr spc="-10" dirty="0"/>
              <a:t>Scope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7055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30" dirty="0"/>
              <a:t> </a:t>
            </a:r>
            <a:r>
              <a:rPr dirty="0"/>
              <a:t>Case</a:t>
            </a:r>
            <a:r>
              <a:rPr spc="-30" dirty="0"/>
              <a:t> </a:t>
            </a:r>
            <a:r>
              <a:rPr dirty="0"/>
              <a:t>1:</a:t>
            </a:r>
            <a:r>
              <a:rPr spc="-25" dirty="0"/>
              <a:t> </a:t>
            </a:r>
            <a:r>
              <a:rPr dirty="0"/>
              <a:t>User</a:t>
            </a:r>
            <a:r>
              <a:rPr spc="-50" dirty="0"/>
              <a:t> </a:t>
            </a:r>
            <a:r>
              <a:rPr dirty="0"/>
              <a:t>Registration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Login</a:t>
            </a:r>
            <a:endParaRPr spc="-10" dirty="0"/>
          </a:p>
          <a:p>
            <a:pPr marL="150495">
              <a:lnSpc>
                <a:spcPct val="100000"/>
              </a:lnSpc>
              <a:spcBef>
                <a:spcPts val="1300"/>
              </a:spcBef>
            </a:pPr>
            <a:r>
              <a:rPr b="0" u="none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register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valid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credentials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authorized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features.</a:t>
            </a:r>
            <a:endParaRPr b="0" u="none" spc="-10" dirty="0">
              <a:latin typeface="Times New Roman" panose="02020603050405020304"/>
              <a:cs typeface="Times New Roman" panose="02020603050405020304"/>
            </a:endParaRPr>
          </a:p>
          <a:p>
            <a:pPr marL="150495">
              <a:lnSpc>
                <a:spcPct val="100000"/>
              </a:lnSpc>
              <a:spcBef>
                <a:spcPts val="1100"/>
              </a:spcBef>
            </a:pPr>
            <a:r>
              <a:rPr dirty="0"/>
              <a:t>Use</a:t>
            </a:r>
            <a:r>
              <a:rPr spc="-30" dirty="0"/>
              <a:t> </a:t>
            </a:r>
            <a:r>
              <a:rPr dirty="0"/>
              <a:t>Case</a:t>
            </a:r>
            <a:r>
              <a:rPr spc="-30" dirty="0"/>
              <a:t> </a:t>
            </a:r>
            <a:r>
              <a:rPr dirty="0"/>
              <a:t>2:</a:t>
            </a:r>
            <a:r>
              <a:rPr spc="-25" dirty="0"/>
              <a:t> </a:t>
            </a:r>
            <a:r>
              <a:rPr dirty="0"/>
              <a:t>Disaster</a:t>
            </a:r>
            <a:r>
              <a:rPr spc="-55" dirty="0"/>
              <a:t> </a:t>
            </a:r>
            <a:r>
              <a:rPr dirty="0"/>
              <a:t>Information</a:t>
            </a:r>
            <a:r>
              <a:rPr spc="-20" dirty="0"/>
              <a:t> </a:t>
            </a:r>
            <a:r>
              <a:rPr spc="-10" dirty="0"/>
              <a:t>Management</a:t>
            </a:r>
            <a:endParaRPr spc="-10" dirty="0"/>
          </a:p>
          <a:p>
            <a:pPr marL="150495">
              <a:lnSpc>
                <a:spcPct val="100000"/>
              </a:lnSpc>
              <a:spcBef>
                <a:spcPts val="1305"/>
              </a:spcBef>
            </a:pPr>
            <a:r>
              <a:rPr b="0" u="none" dirty="0">
                <a:latin typeface="Times New Roman" panose="02020603050405020304"/>
                <a:cs typeface="Times New Roman" panose="02020603050405020304"/>
              </a:rPr>
              <a:t>Authorized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add,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update,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disaster-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related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location,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type,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severity.</a:t>
            </a:r>
            <a:endParaRPr b="0" u="none" spc="-10" dirty="0">
              <a:latin typeface="Times New Roman" panose="02020603050405020304"/>
              <a:cs typeface="Times New Roman" panose="02020603050405020304"/>
            </a:endParaRPr>
          </a:p>
          <a:p>
            <a:pPr marL="150495">
              <a:lnSpc>
                <a:spcPct val="100000"/>
              </a:lnSpc>
              <a:spcBef>
                <a:spcPts val="1100"/>
              </a:spcBef>
            </a:pPr>
            <a:r>
              <a:rPr dirty="0"/>
              <a:t>Use</a:t>
            </a:r>
            <a:r>
              <a:rPr spc="-40" dirty="0"/>
              <a:t> </a:t>
            </a:r>
            <a:r>
              <a:rPr dirty="0"/>
              <a:t>Case</a:t>
            </a:r>
            <a:r>
              <a:rPr spc="-35" dirty="0"/>
              <a:t> </a:t>
            </a:r>
            <a:r>
              <a:rPr dirty="0"/>
              <a:t>3:</a:t>
            </a:r>
            <a:r>
              <a:rPr spc="-35" dirty="0"/>
              <a:t> </a:t>
            </a:r>
            <a:r>
              <a:rPr dirty="0"/>
              <a:t>Resource</a:t>
            </a:r>
            <a:r>
              <a:rPr spc="-35" dirty="0"/>
              <a:t> </a:t>
            </a:r>
            <a:r>
              <a:rPr spc="-10" dirty="0"/>
              <a:t>Management</a:t>
            </a:r>
            <a:endParaRPr spc="-10" dirty="0"/>
          </a:p>
          <a:p>
            <a:pPr marL="150495">
              <a:lnSpc>
                <a:spcPct val="100000"/>
              </a:lnSpc>
              <a:spcBef>
                <a:spcPts val="1305"/>
              </a:spcBef>
            </a:pPr>
            <a:r>
              <a:rPr b="0" u="none" dirty="0">
                <a:latin typeface="Times New Roman" panose="02020603050405020304"/>
                <a:cs typeface="Times New Roman" panose="02020603050405020304"/>
              </a:rPr>
              <a:t>Administrators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inventory,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including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availability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 status.</a:t>
            </a:r>
            <a:endParaRPr b="0" u="none" spc="-10" dirty="0">
              <a:latin typeface="Times New Roman" panose="02020603050405020304"/>
              <a:cs typeface="Times New Roman" panose="02020603050405020304"/>
            </a:endParaRPr>
          </a:p>
          <a:p>
            <a:pPr marL="150495">
              <a:lnSpc>
                <a:spcPct val="100000"/>
              </a:lnSpc>
              <a:spcBef>
                <a:spcPts val="1100"/>
              </a:spcBef>
            </a:pPr>
            <a:r>
              <a:rPr dirty="0"/>
              <a:t>Use</a:t>
            </a:r>
            <a:r>
              <a:rPr spc="-30" dirty="0"/>
              <a:t> </a:t>
            </a:r>
            <a:r>
              <a:rPr dirty="0"/>
              <a:t>Case</a:t>
            </a:r>
            <a:r>
              <a:rPr spc="-20" dirty="0"/>
              <a:t> </a:t>
            </a:r>
            <a:r>
              <a:rPr dirty="0"/>
              <a:t>4:</a:t>
            </a:r>
            <a:r>
              <a:rPr spc="-10" dirty="0"/>
              <a:t> Resource</a:t>
            </a:r>
            <a:r>
              <a:rPr spc="-85" dirty="0"/>
              <a:t> </a:t>
            </a:r>
            <a:r>
              <a:rPr spc="-10" dirty="0"/>
              <a:t>Allocation</a:t>
            </a:r>
            <a:endParaRPr spc="-10" dirty="0"/>
          </a:p>
          <a:p>
            <a:pPr marL="150495">
              <a:lnSpc>
                <a:spcPct val="100000"/>
              </a:lnSpc>
              <a:spcBef>
                <a:spcPts val="1300"/>
              </a:spcBef>
            </a:pP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Resources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b="0" u="none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allocated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affected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areas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severity.</a:t>
            </a:r>
            <a:endParaRPr b="0" u="none" spc="-10" dirty="0">
              <a:latin typeface="Times New Roman" panose="02020603050405020304"/>
              <a:cs typeface="Times New Roman" panose="02020603050405020304"/>
            </a:endParaRPr>
          </a:p>
          <a:p>
            <a:pPr marL="150495">
              <a:lnSpc>
                <a:spcPct val="100000"/>
              </a:lnSpc>
              <a:spcBef>
                <a:spcPts val="1100"/>
              </a:spcBef>
            </a:pPr>
            <a:r>
              <a:rPr dirty="0"/>
              <a:t>Use</a:t>
            </a:r>
            <a:r>
              <a:rPr spc="-30" dirty="0"/>
              <a:t> </a:t>
            </a:r>
            <a:r>
              <a:rPr dirty="0"/>
              <a:t>Case</a:t>
            </a:r>
            <a:r>
              <a:rPr spc="-25" dirty="0"/>
              <a:t> </a:t>
            </a:r>
            <a:r>
              <a:rPr dirty="0"/>
              <a:t>5:</a:t>
            </a:r>
            <a:r>
              <a:rPr spc="-25" dirty="0"/>
              <a:t> </a:t>
            </a:r>
            <a:r>
              <a:rPr dirty="0"/>
              <a:t>Monitoring</a:t>
            </a:r>
            <a:r>
              <a:rPr spc="-2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Tracking</a:t>
            </a:r>
            <a:endParaRPr spc="-10" dirty="0"/>
          </a:p>
          <a:p>
            <a:pPr marL="150495">
              <a:lnSpc>
                <a:spcPct val="100000"/>
              </a:lnSpc>
              <a:spcBef>
                <a:spcPts val="1305"/>
              </a:spcBef>
            </a:pPr>
            <a:r>
              <a:rPr b="0" u="none" dirty="0">
                <a:latin typeface="Times New Roman" panose="02020603050405020304"/>
                <a:cs typeface="Times New Roman" panose="02020603050405020304"/>
              </a:rPr>
              <a:t>Authorities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monitor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activities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0" u="none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track</a:t>
            </a:r>
            <a:r>
              <a:rPr b="0" u="none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allocated</a:t>
            </a:r>
            <a:r>
              <a:rPr b="0" u="none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resources.</a:t>
            </a:r>
            <a:endParaRPr b="0" u="none" spc="-10" dirty="0">
              <a:latin typeface="Times New Roman" panose="02020603050405020304"/>
              <a:cs typeface="Times New Roman" panose="02020603050405020304"/>
            </a:endParaRPr>
          </a:p>
          <a:p>
            <a:pPr marL="150495">
              <a:lnSpc>
                <a:spcPct val="100000"/>
              </a:lnSpc>
              <a:spcBef>
                <a:spcPts val="1100"/>
              </a:spcBef>
            </a:pPr>
            <a:r>
              <a:rPr dirty="0"/>
              <a:t>Use</a:t>
            </a:r>
            <a:r>
              <a:rPr spc="-30" dirty="0"/>
              <a:t> </a:t>
            </a:r>
            <a:r>
              <a:rPr dirty="0"/>
              <a:t>Case</a:t>
            </a:r>
            <a:r>
              <a:rPr spc="-25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dirty="0"/>
              <a:t>Report</a:t>
            </a:r>
            <a:r>
              <a:rPr spc="-25" dirty="0"/>
              <a:t> </a:t>
            </a:r>
            <a:r>
              <a:rPr spc="-10" dirty="0"/>
              <a:t>Generation</a:t>
            </a:r>
            <a:endParaRPr spc="-10" dirty="0"/>
          </a:p>
          <a:p>
            <a:pPr marL="150495">
              <a:lnSpc>
                <a:spcPct val="100000"/>
              </a:lnSpc>
              <a:spcBef>
                <a:spcPts val="1300"/>
              </a:spcBef>
            </a:pPr>
            <a:r>
              <a:rPr b="0" u="none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generates</a:t>
            </a:r>
            <a:r>
              <a:rPr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reports</a:t>
            </a:r>
            <a:r>
              <a:rPr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related</a:t>
            </a:r>
            <a:r>
              <a:rPr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disasters,</a:t>
            </a:r>
            <a:r>
              <a:rPr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resources,</a:t>
            </a:r>
            <a:r>
              <a:rPr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0" u="none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b="0" u="none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u="none" spc="-10" dirty="0">
                <a:latin typeface="Times New Roman" panose="02020603050405020304"/>
                <a:cs typeface="Times New Roman" panose="02020603050405020304"/>
              </a:rPr>
              <a:t>effectiveness.</a:t>
            </a:r>
            <a:endParaRPr b="0" u="none" spc="-1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154" y="134604"/>
            <a:ext cx="7783253" cy="5060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6360" marR="5080" algn="l">
              <a:lnSpc>
                <a:spcPct val="102000"/>
              </a:lnSpc>
              <a:spcBef>
                <a:spcPts val="35"/>
              </a:spcBef>
              <a:tabLst>
                <a:tab pos="5607685" algn="l"/>
              </a:tabLst>
            </a:pPr>
            <a:r>
              <a:rPr dirty="0"/>
              <a:t>Project</a:t>
            </a:r>
            <a:r>
              <a:rPr spc="-245" dirty="0"/>
              <a:t> </a:t>
            </a:r>
            <a:r>
              <a:rPr spc="-20" dirty="0"/>
              <a:t>Flow</a:t>
            </a:r>
            <a:r>
              <a:rPr sz="2800" dirty="0"/>
              <a:t>	</a:t>
            </a:r>
            <a:r>
              <a:rPr sz="2800" spc="-10" dirty="0"/>
              <a:t> </a:t>
            </a:r>
            <a:endParaRPr sz="2800" spc="-10" dirty="0"/>
          </a:p>
        </p:txBody>
      </p:sp>
      <p:sp>
        <p:nvSpPr>
          <p:cNvPr id="3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0098" y="1164802"/>
            <a:ext cx="4198620" cy="486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b="1" i="0" u="sng" spc="-2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u="sng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Flow: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30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accesses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browser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0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registers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0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Authentication</a:t>
            </a:r>
            <a:r>
              <a:rPr sz="1700" i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module</a:t>
            </a:r>
            <a:r>
              <a:rPr sz="1700" i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verifies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 credentials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0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i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i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redirected</a:t>
            </a:r>
            <a:r>
              <a:rPr sz="1700" i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i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i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dashboard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10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performs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operations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as:</a:t>
            </a:r>
            <a:endParaRPr sz="1700" i="0" spc="-25" dirty="0">
              <a:latin typeface="Times New Roman" panose="02020603050405020304"/>
              <a:cs typeface="Times New Roman" panose="02020603050405020304"/>
            </a:endParaRPr>
          </a:p>
          <a:p>
            <a:pPr marL="926465" lvl="1" indent="-316865">
              <a:lnSpc>
                <a:spcPct val="100000"/>
              </a:lnSpc>
              <a:spcBef>
                <a:spcPts val="110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altLang="" sz="1700" i="0" spc="-25" dirty="0">
                <a:latin typeface="Times New Roman" panose="02020603050405020304"/>
                <a:cs typeface="Times New Roman" panose="02020603050405020304"/>
              </a:rPr>
              <a:t>Disaster data collection</a:t>
            </a:r>
            <a:endParaRPr lang="en-US" altLang="" sz="1700" i="0" spc="-25" dirty="0">
              <a:latin typeface="Times New Roman" panose="02020603050405020304"/>
              <a:cs typeface="Times New Roman" panose="02020603050405020304"/>
            </a:endParaRPr>
          </a:p>
          <a:p>
            <a:pPr marL="926465" lvl="1" indent="-316865">
              <a:lnSpc>
                <a:spcPct val="100000"/>
              </a:lnSpc>
              <a:spcBef>
                <a:spcPts val="110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altLang="" sz="1700" i="0" spc="-25" dirty="0">
                <a:latin typeface="Times New Roman" panose="02020603050405020304"/>
                <a:cs typeface="Times New Roman" panose="02020603050405020304"/>
              </a:rPr>
              <a:t>Resorce Management</a:t>
            </a:r>
            <a:endParaRPr lang="en-US" altLang="" sz="1700" i="0" spc="-25" dirty="0">
              <a:latin typeface="Times New Roman" panose="02020603050405020304"/>
              <a:cs typeface="Times New Roman" panose="02020603050405020304"/>
            </a:endParaRPr>
          </a:p>
          <a:p>
            <a:pPr marL="926465" lvl="1" indent="-316865">
              <a:lnSpc>
                <a:spcPct val="100000"/>
              </a:lnSpc>
              <a:spcBef>
                <a:spcPts val="110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altLang="" sz="1700" i="0" spc="-25" dirty="0">
                <a:latin typeface="Times New Roman" panose="02020603050405020304"/>
                <a:cs typeface="Times New Roman" panose="02020603050405020304"/>
              </a:rPr>
              <a:t>Resource allocation</a:t>
            </a:r>
            <a:endParaRPr lang="en-US" altLang="" sz="1700" i="0" spc="-25" dirty="0">
              <a:latin typeface="Times New Roman" panose="02020603050405020304"/>
              <a:cs typeface="Times New Roman" panose="02020603050405020304"/>
            </a:endParaRPr>
          </a:p>
          <a:p>
            <a:pPr marL="926465" lvl="1" indent="-316865">
              <a:lnSpc>
                <a:spcPct val="100000"/>
              </a:lnSpc>
              <a:spcBef>
                <a:spcPts val="110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altLang="" sz="1700" i="0" spc="-25" dirty="0">
                <a:latin typeface="Times New Roman" panose="02020603050405020304"/>
                <a:cs typeface="Times New Roman" panose="02020603050405020304"/>
              </a:rPr>
              <a:t>Monitoring and tracking </a:t>
            </a:r>
            <a:endParaRPr lang="en-US" altLang="" sz="1700" i="0" spc="-25" dirty="0">
              <a:latin typeface="Times New Roman" panose="02020603050405020304"/>
              <a:cs typeface="Times New Roman" panose="02020603050405020304"/>
            </a:endParaRPr>
          </a:p>
          <a:p>
            <a:pPr marL="926465" lvl="1" indent="-316865">
              <a:lnSpc>
                <a:spcPct val="100000"/>
              </a:lnSpc>
              <a:spcBef>
                <a:spcPts val="110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altLang="" sz="1700" i="0" spc="-25" dirty="0">
                <a:latin typeface="Times New Roman" panose="02020603050405020304"/>
                <a:cs typeface="Times New Roman" panose="02020603050405020304"/>
              </a:rPr>
              <a:t>Reporting and logging</a:t>
            </a:r>
            <a:endParaRPr sz="1700" i="0" spc="-25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None/>
              <a:tabLst>
                <a:tab pos="329565" algn="l"/>
              </a:tabLst>
            </a:pPr>
            <a:endParaRPr sz="1700" i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54" y="134604"/>
            <a:ext cx="7783253" cy="984885"/>
          </a:xfrm>
        </p:spPr>
        <p:txBody>
          <a:bodyPr/>
          <a:p>
            <a:r>
              <a:rPr lang="en-US"/>
              <a:t>Project Flow</a:t>
            </a:r>
            <a:br>
              <a:rPr lang="en-US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98" y="1118599"/>
            <a:ext cx="8719543" cy="1731010"/>
          </a:xfrm>
        </p:spPr>
        <p:txBody>
          <a:bodyPr/>
          <a:p>
            <a:pPr marL="342900" indent="-342900">
              <a:lnSpc>
                <a:spcPct val="100000"/>
              </a:lnSpc>
              <a:spcBef>
                <a:spcPts val="100"/>
              </a:spcBef>
              <a:buFont typeface="+mj-lt"/>
              <a:buAutoNum type="arabicPeriod" startAt="6"/>
              <a:tabLst>
                <a:tab pos="329565" algn="l"/>
              </a:tabLst>
            </a:pPr>
            <a:r>
              <a:rPr sz="1700" b="0" u="none" dirty="0">
                <a:sym typeface="+mn-ea"/>
              </a:rPr>
              <a:t>Backend</a:t>
            </a:r>
            <a:r>
              <a:rPr sz="1700" b="0" u="none" spc="-25" dirty="0">
                <a:sym typeface="+mn-ea"/>
              </a:rPr>
              <a:t> </a:t>
            </a:r>
            <a:r>
              <a:rPr sz="1700" b="0" u="none" spc="-10" dirty="0">
                <a:sym typeface="+mn-ea"/>
              </a:rPr>
              <a:t>processes</a:t>
            </a:r>
            <a:r>
              <a:rPr sz="1700" b="0" u="none" spc="-20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requests</a:t>
            </a:r>
            <a:r>
              <a:rPr sz="1700" b="0" u="none" spc="-25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and</a:t>
            </a:r>
            <a:r>
              <a:rPr sz="1700" b="0" u="none" spc="-20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interacts</a:t>
            </a:r>
            <a:r>
              <a:rPr sz="1700" b="0" u="none" spc="-25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with</a:t>
            </a:r>
            <a:r>
              <a:rPr sz="1700" b="0" u="none" spc="-20" dirty="0">
                <a:sym typeface="+mn-ea"/>
              </a:rPr>
              <a:t> </a:t>
            </a:r>
            <a:r>
              <a:rPr sz="1700" b="0" u="none" spc="-10" dirty="0">
                <a:sym typeface="+mn-ea"/>
              </a:rPr>
              <a:t>MongoDB</a:t>
            </a:r>
            <a:r>
              <a:rPr lang="en-US" sz="1700" b="0" u="none" spc="-10" dirty="0">
                <a:sym typeface="+mn-ea"/>
              </a:rPr>
              <a:t>.</a:t>
            </a:r>
            <a:endParaRPr sz="1700" b="0" i="0" u="none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1100"/>
              </a:spcBef>
              <a:buFont typeface="+mj-lt"/>
              <a:buAutoNum type="arabicPeriod" startAt="6"/>
              <a:tabLst>
                <a:tab pos="329565" algn="l"/>
              </a:tabLst>
            </a:pPr>
            <a:r>
              <a:rPr sz="1700" b="0" u="none" dirty="0">
                <a:sym typeface="+mn-ea"/>
              </a:rPr>
              <a:t>Updated</a:t>
            </a:r>
            <a:r>
              <a:rPr sz="1700" b="0" u="none" spc="-10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information</a:t>
            </a:r>
            <a:r>
              <a:rPr sz="1700" b="0" u="none" spc="-10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is</a:t>
            </a:r>
            <a:r>
              <a:rPr sz="1700" b="0" u="none" spc="-10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displayed</a:t>
            </a:r>
            <a:r>
              <a:rPr sz="1700" b="0" u="none" spc="-5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on</a:t>
            </a:r>
            <a:r>
              <a:rPr sz="1700" b="0" u="none" spc="-10" dirty="0">
                <a:sym typeface="+mn-ea"/>
              </a:rPr>
              <a:t> </a:t>
            </a:r>
            <a:r>
              <a:rPr sz="1700" b="0" u="none" dirty="0">
                <a:sym typeface="+mn-ea"/>
              </a:rPr>
              <a:t>the</a:t>
            </a:r>
            <a:r>
              <a:rPr sz="1700" b="0" u="none" spc="-15" dirty="0">
                <a:sym typeface="+mn-ea"/>
              </a:rPr>
              <a:t> </a:t>
            </a:r>
            <a:r>
              <a:rPr sz="1700" b="0" u="none" spc="-10" dirty="0">
                <a:sym typeface="+mn-ea"/>
              </a:rPr>
              <a:t>frontend</a:t>
            </a:r>
            <a:r>
              <a:rPr lang="en-US" sz="1700" b="0" u="none" spc="-10" dirty="0">
                <a:sym typeface="+mn-ea"/>
              </a:rPr>
              <a:t>.</a:t>
            </a:r>
            <a:endParaRPr lang="en-US" sz="1700" b="0" u="none" spc="-10" dirty="0"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1100"/>
              </a:spcBef>
              <a:buFont typeface="+mj-lt"/>
              <a:buAutoNum type="arabicPeriod" startAt="6"/>
              <a:tabLst>
                <a:tab pos="329565" algn="l"/>
              </a:tabLst>
            </a:pPr>
            <a:endParaRPr lang="en-US" sz="1700" b="0" i="0" u="none" spc="-1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1100"/>
              </a:spcBef>
              <a:buFont typeface="+mj-lt"/>
              <a:buAutoNum type="arabicPeriod" startAt="6"/>
              <a:tabLst>
                <a:tab pos="329565" algn="l"/>
              </a:tabLst>
            </a:pPr>
            <a:endParaRPr sz="1700" b="0" i="0" u="none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 startAt="6"/>
            </a:pPr>
            <a:endParaRPr lang="en-US" sz="1700" b="0" u="none"/>
          </a:p>
        </p:txBody>
      </p:sp>
      <p:sp>
        <p:nvSpPr>
          <p:cNvPr id="4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545" y="1986915"/>
            <a:ext cx="5782945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154" y="334582"/>
            <a:ext cx="40690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6245" algn="l"/>
              </a:tabLst>
            </a:pPr>
            <a:r>
              <a:rPr dirty="0"/>
              <a:t>Data</a:t>
            </a:r>
            <a:r>
              <a:rPr spc="-65" dirty="0"/>
              <a:t> </a:t>
            </a:r>
            <a:r>
              <a:rPr spc="-50" dirty="0"/>
              <a:t>&amp;</a:t>
            </a:r>
            <a:r>
              <a:rPr dirty="0"/>
              <a:t>	</a:t>
            </a:r>
            <a:r>
              <a:rPr spc="-10" dirty="0"/>
              <a:t>Resources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9555" y="1390015"/>
            <a:ext cx="7368540" cy="34270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000" b="1" i="0" u="sng" spc="-2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Used</a:t>
            </a:r>
            <a:endParaRPr sz="20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310"/>
              </a:spcBef>
              <a:buChar char="•"/>
              <a:tabLst>
                <a:tab pos="469265" algn="l"/>
              </a:tabLst>
            </a:pP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2400" i="0" spc="-60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details</a:t>
            </a:r>
            <a:r>
              <a:rPr sz="2400" i="0" spc="-52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(User</a:t>
            </a:r>
            <a:r>
              <a:rPr sz="2400" i="0" spc="-60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ID,</a:t>
            </a:r>
            <a:r>
              <a:rPr sz="2400" i="0" spc="-52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name,</a:t>
            </a:r>
            <a:r>
              <a:rPr sz="2400" i="0" spc="-60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role,</a:t>
            </a:r>
            <a:r>
              <a:rPr sz="2400" i="0" spc="-52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login</a:t>
            </a:r>
            <a:r>
              <a:rPr sz="2400" i="0" spc="-60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credentials)</a:t>
            </a:r>
            <a:endParaRPr sz="2400" i="0" baseline="2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Char char="•"/>
              <a:tabLst>
                <a:tab pos="469265" algn="l"/>
              </a:tabLst>
            </a:pP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2400" i="0" spc="-7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400" i="0" spc="-82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(type,</a:t>
            </a:r>
            <a:r>
              <a:rPr sz="2400" i="0" spc="-6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location,</a:t>
            </a:r>
            <a:r>
              <a:rPr sz="2400" i="0" spc="-7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30" baseline="2000" dirty="0">
                <a:latin typeface="Times New Roman" panose="02020603050405020304"/>
                <a:cs typeface="Times New Roman" panose="02020603050405020304"/>
              </a:rPr>
              <a:t>severity,</a:t>
            </a:r>
            <a:r>
              <a:rPr sz="2400" i="0" spc="-7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status)</a:t>
            </a:r>
            <a:endParaRPr sz="2400" i="0" baseline="2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Char char="•"/>
              <a:tabLst>
                <a:tab pos="469265" algn="l"/>
              </a:tabLst>
            </a:pP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2400" i="0" spc="-7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400" i="0" spc="-6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(type,</a:t>
            </a:r>
            <a:r>
              <a:rPr sz="2400" i="0" spc="-6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quantity,</a:t>
            </a:r>
            <a:r>
              <a:rPr sz="2400" i="0" spc="-60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30" baseline="2000" dirty="0">
                <a:latin typeface="Times New Roman" panose="02020603050405020304"/>
                <a:cs typeface="Times New Roman" panose="02020603050405020304"/>
              </a:rPr>
              <a:t>availability,</a:t>
            </a:r>
            <a:r>
              <a:rPr sz="2400" i="0" spc="-6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location)</a:t>
            </a:r>
            <a:endParaRPr sz="2400" i="0" baseline="2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Char char="•"/>
              <a:tabLst>
                <a:tab pos="469265" algn="l"/>
              </a:tabLst>
            </a:pP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2400" i="0" spc="-13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records</a:t>
            </a:r>
            <a:endParaRPr sz="2400" i="0" baseline="2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Char char="•"/>
              <a:tabLst>
                <a:tab pos="469265" algn="l"/>
              </a:tabLst>
            </a:pP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Logs</a:t>
            </a:r>
            <a:r>
              <a:rPr sz="2400" i="0" spc="-3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i="0" spc="-3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reports</a:t>
            </a:r>
            <a:endParaRPr sz="2400" i="0" baseline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b="1" i="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Resources</a:t>
            </a:r>
            <a:r>
              <a:rPr sz="2000" b="1" i="0" u="sng" spc="-5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i="0" u="sng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Required</a:t>
            </a:r>
            <a:endParaRPr sz="2000" i="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315"/>
              </a:spcBef>
              <a:buChar char="•"/>
              <a:tabLst>
                <a:tab pos="469265" algn="l"/>
              </a:tabLst>
            </a:pPr>
            <a:r>
              <a:rPr sz="2400" b="1" i="0" spc="-15" baseline="2000" dirty="0">
                <a:latin typeface="Times New Roman" panose="02020603050405020304"/>
                <a:cs typeface="Times New Roman" panose="02020603050405020304"/>
              </a:rPr>
              <a:t>Hardware:</a:t>
            </a:r>
            <a:r>
              <a:rPr sz="2400" b="1" i="0" spc="-89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400" i="0" spc="-7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400" i="0" spc="-89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400" i="0" spc="-7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internet</a:t>
            </a:r>
            <a:r>
              <a:rPr sz="2400" i="0" spc="-82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connectivity</a:t>
            </a:r>
            <a:endParaRPr sz="2400" i="0" baseline="2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Char char="•"/>
              <a:tabLst>
                <a:tab pos="469265" algn="l"/>
              </a:tabLst>
            </a:pPr>
            <a:r>
              <a:rPr sz="2400" b="1" i="0" spc="-15" baseline="2000" dirty="0">
                <a:latin typeface="Times New Roman" panose="02020603050405020304"/>
                <a:cs typeface="Times New Roman" panose="02020603050405020304"/>
              </a:rPr>
              <a:t>Software:</a:t>
            </a:r>
            <a:r>
              <a:rPr sz="2400" b="1" i="0" spc="-7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VS</a:t>
            </a:r>
            <a:r>
              <a:rPr sz="2400" i="0" spc="-30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Code,</a:t>
            </a:r>
            <a:r>
              <a:rPr sz="2400" i="0" spc="-75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52" baseline="2000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2400" i="0" spc="-30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Browser,</a:t>
            </a:r>
            <a:r>
              <a:rPr sz="2400" i="0" spc="-30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MongoDB</a:t>
            </a:r>
            <a:endParaRPr sz="2400" i="0" baseline="2000">
              <a:latin typeface="Times New Roman" panose="02020603050405020304"/>
              <a:cs typeface="Times New Roman" panose="02020603050405020304"/>
            </a:endParaRPr>
          </a:p>
          <a:p>
            <a:pPr marL="469265" indent="-316865">
              <a:lnSpc>
                <a:spcPct val="100000"/>
              </a:lnSpc>
              <a:spcBef>
                <a:spcPts val="1080"/>
              </a:spcBef>
              <a:buChar char="•"/>
              <a:tabLst>
                <a:tab pos="469265" algn="l"/>
              </a:tabLst>
            </a:pPr>
            <a:r>
              <a:rPr sz="2400" b="1" i="0" spc="-30" baseline="2000" dirty="0">
                <a:latin typeface="Times New Roman" panose="02020603050405020304"/>
                <a:cs typeface="Times New Roman" panose="02020603050405020304"/>
              </a:rPr>
              <a:t>Technologies:</a:t>
            </a:r>
            <a:r>
              <a:rPr sz="2400" b="1" i="0" spc="-52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HTML,</a:t>
            </a:r>
            <a:r>
              <a:rPr sz="2400" i="0" spc="-3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CSS,</a:t>
            </a:r>
            <a:r>
              <a:rPr sz="2400" i="0" spc="-3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baseline="2000" dirty="0">
                <a:latin typeface="Times New Roman" panose="02020603050405020304"/>
                <a:cs typeface="Times New Roman" panose="02020603050405020304"/>
              </a:rPr>
              <a:t>JavaScript,</a:t>
            </a:r>
            <a:r>
              <a:rPr sz="2400" i="0" spc="-37" baseline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15" baseline="2000" dirty="0">
                <a:latin typeface="Times New Roman" panose="02020603050405020304"/>
                <a:cs typeface="Times New Roman" panose="02020603050405020304"/>
              </a:rPr>
              <a:t>MongoDB</a:t>
            </a:r>
            <a:endParaRPr sz="2400" i="0" baseline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9156065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6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1048748"/>
            <a:ext cx="9144000" cy="5607685"/>
            <a:chOff x="0" y="1048748"/>
            <a:chExt cx="9144000" cy="5607685"/>
          </a:xfrm>
        </p:grpSpPr>
        <p:sp>
          <p:nvSpPr>
            <p:cNvPr id="5" name="object 5"/>
            <p:cNvSpPr/>
            <p:nvPr/>
          </p:nvSpPr>
          <p:spPr>
            <a:xfrm>
              <a:off x="0" y="1048748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9144000" y="25400"/>
                  </a:moveTo>
                  <a:lnTo>
                    <a:pt x="0" y="25399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25400"/>
                  </a:lnTo>
                  <a:close/>
                </a:path>
              </a:pathLst>
            </a:custGeom>
            <a:solidFill>
              <a:srgbClr val="0060A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07" y="6309320"/>
              <a:ext cx="2411760" cy="34669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92464" y="1171564"/>
            <a:ext cx="7020559" cy="331470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follows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dirty="0">
                <a:latin typeface="Times New Roman" panose="02020603050405020304"/>
                <a:cs typeface="Times New Roman" panose="02020603050405020304"/>
              </a:rPr>
              <a:t>modular</a:t>
            </a:r>
            <a:r>
              <a:rPr sz="1700" b="1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spc="-10" dirty="0">
                <a:latin typeface="Times New Roman" panose="02020603050405020304"/>
                <a:cs typeface="Times New Roman" panose="02020603050405020304"/>
              </a:rPr>
              <a:t>development</a:t>
            </a:r>
            <a:r>
              <a:rPr sz="1700" b="1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i="0" spc="-10" dirty="0"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: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7500">
              <a:lnSpc>
                <a:spcPct val="100000"/>
              </a:lnSpc>
              <a:spcBef>
                <a:spcPts val="118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Requirement</a:t>
            </a:r>
            <a:r>
              <a:rPr sz="1700" i="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design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7500">
              <a:lnSpc>
                <a:spcPct val="100000"/>
              </a:lnSpc>
              <a:spcBef>
                <a:spcPts val="118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sz="1700" i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HTML,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CSS,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JavaScript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7500">
              <a:lnSpc>
                <a:spcPct val="100000"/>
              </a:lnSpc>
              <a:spcBef>
                <a:spcPts val="118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development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processing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authentication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7500">
              <a:lnSpc>
                <a:spcPct val="100000"/>
              </a:lnSpc>
              <a:spcBef>
                <a:spcPts val="118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Database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700" i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700" i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MongoDB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7500">
              <a:lnSpc>
                <a:spcPct val="100000"/>
              </a:lnSpc>
              <a:spcBef>
                <a:spcPts val="118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Integration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frontend,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backend,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database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7500">
              <a:lnSpc>
                <a:spcPct val="100000"/>
              </a:lnSpc>
              <a:spcBef>
                <a:spcPts val="118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Testing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debugging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469265" indent="-317500">
              <a:lnSpc>
                <a:spcPct val="100000"/>
              </a:lnSpc>
              <a:spcBef>
                <a:spcPts val="1180"/>
              </a:spcBef>
              <a:buFont typeface="Times New Roman" panose="02020603050405020304"/>
              <a:buAutoNum type="arabicPeriod"/>
              <a:tabLst>
                <a:tab pos="469265" algn="l"/>
              </a:tabLst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Documentation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final</a:t>
            </a:r>
            <a:r>
              <a:rPr sz="1700" i="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deployment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154" y="334582"/>
            <a:ext cx="61899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3295" algn="l"/>
                <a:tab pos="4544695" algn="l"/>
              </a:tabLst>
            </a:pPr>
            <a:r>
              <a:rPr spc="-10" dirty="0"/>
              <a:t>Expected</a:t>
            </a:r>
            <a:r>
              <a:rPr dirty="0"/>
              <a:t>	Results</a:t>
            </a:r>
            <a:r>
              <a:rPr spc="-70" dirty="0"/>
              <a:t> </a:t>
            </a:r>
            <a:r>
              <a:rPr spc="-50" dirty="0"/>
              <a:t>&amp;</a:t>
            </a:r>
            <a:r>
              <a:rPr dirty="0"/>
              <a:t>	</a:t>
            </a:r>
            <a:r>
              <a:rPr spc="-10" dirty="0"/>
              <a:t>Impact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8251" y="1158774"/>
            <a:ext cx="6017895" cy="197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23215" indent="-342900">
              <a:lnSpc>
                <a:spcPct val="147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1700" i="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700" i="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i="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disaster-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related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lang="en-US" altLang="" sz="1700" i="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lang="en-US" altLang="" sz="1700" i="0" spc="-10" dirty="0">
              <a:latin typeface="Times New Roman" panose="02020603050405020304"/>
              <a:cs typeface="Times New Roman" panose="02020603050405020304"/>
            </a:endParaRPr>
          </a:p>
          <a:p>
            <a:pPr marL="355600" marR="323215" indent="-342900">
              <a:lnSpc>
                <a:spcPct val="147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Faster</a:t>
            </a:r>
            <a:r>
              <a:rPr sz="1700" i="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1700" i="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1700" i="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20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1700" i="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lang="en-US" altLang="" sz="1700" i="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>
              <a:lnSpc>
                <a:spcPct val="147000"/>
              </a:lnSpc>
              <a:buFont typeface="Arial" panose="020B0604020202020204" pitchFamily="34" charset="0"/>
              <a:buChar char="•"/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Improved</a:t>
            </a:r>
            <a:r>
              <a:rPr sz="1700" i="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coordination</a:t>
            </a:r>
            <a:r>
              <a:rPr sz="1700" i="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1700" i="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i="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response</a:t>
            </a:r>
            <a:r>
              <a:rPr sz="1700" i="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teams</a:t>
            </a:r>
            <a:r>
              <a:rPr lang="en-US" altLang="" sz="1700" i="0" spc="-1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 </a:t>
            </a:r>
            <a:endParaRPr sz="1700" i="0" spc="-10" dirty="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>
              <a:lnSpc>
                <a:spcPct val="147000"/>
              </a:lnSpc>
              <a:buFont typeface="Arial" panose="020B0604020202020204" pitchFamily="34" charset="0"/>
              <a:buChar char="•"/>
            </a:pPr>
            <a:r>
              <a:rPr sz="1700" i="0" dirty="0">
                <a:latin typeface="Times New Roman" panose="02020603050405020304"/>
                <a:cs typeface="Times New Roman" panose="02020603050405020304"/>
              </a:rPr>
              <a:t>Reduced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manual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effort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redundancy</a:t>
            </a:r>
            <a:r>
              <a:rPr lang="en-US" altLang="" sz="1700" i="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1700" i="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700" i="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reliable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700" i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dirty="0">
                <a:latin typeface="Times New Roman" panose="02020603050405020304"/>
                <a:cs typeface="Times New Roman" panose="02020603050405020304"/>
              </a:rPr>
              <a:t>disaster</a:t>
            </a:r>
            <a:r>
              <a:rPr sz="17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i="0" spc="-1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lang="en-US" altLang="" sz="1700" i="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lang="en-US" altLang="" sz="1700" i="0" spc="-1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6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55" dirty="0"/>
              <a:t> </a:t>
            </a:r>
            <a:r>
              <a:rPr spc="-10" dirty="0"/>
              <a:t>Timeline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1048748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399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60A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007" y="6309319"/>
            <a:ext cx="2411760" cy="34669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4350" y="1403350"/>
          <a:ext cx="8062595" cy="4363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475"/>
                <a:gridCol w="2657475"/>
                <a:gridCol w="2657475"/>
              </a:tblGrid>
              <a:tr h="545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700" b="1" spc="-10" dirty="0">
                          <a:latin typeface="Times New Roman" panose="02020603050405020304"/>
                          <a:cs typeface="Times New Roman" panose="02020603050405020304"/>
                        </a:rPr>
                        <a:t>Phase</a:t>
                      </a:r>
                      <a:endParaRPr sz="1700" b="1" spc="-1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700" b="1" spc="-10" dirty="0">
                          <a:latin typeface="Times New Roman" panose="02020603050405020304"/>
                          <a:cs typeface="Times New Roman" panose="02020603050405020304"/>
                        </a:rPr>
                        <a:t>Description</a:t>
                      </a:r>
                      <a:endParaRPr sz="1700" b="1" spc="-1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700" b="1" spc="-10" dirty="0">
                          <a:latin typeface="Times New Roman" panose="02020603050405020304"/>
                          <a:cs typeface="Times New Roman" panose="02020603050405020304"/>
                        </a:rPr>
                        <a:t>Duration</a:t>
                      </a:r>
                      <a:endParaRPr sz="1700" b="1" spc="-1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Phase</a:t>
                      </a:r>
                      <a:r>
                        <a:rPr sz="17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Requirement</a:t>
                      </a:r>
                      <a:r>
                        <a:rPr sz="17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Analysis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1700" spc="-20" dirty="0">
                          <a:latin typeface="Times New Roman" panose="02020603050405020304"/>
                          <a:cs typeface="Times New Roman" panose="02020603050405020304"/>
                        </a:rPr>
                        <a:t>Week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Phase</a:t>
                      </a:r>
                      <a:r>
                        <a:rPr sz="17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System</a:t>
                      </a:r>
                      <a:r>
                        <a:rPr sz="17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Design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1700" spc="-20" dirty="0">
                          <a:latin typeface="Times New Roman" panose="02020603050405020304"/>
                          <a:cs typeface="Times New Roman" panose="02020603050405020304"/>
                        </a:rPr>
                        <a:t>Week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Phase</a:t>
                      </a:r>
                      <a:r>
                        <a:rPr sz="17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Frontend</a:t>
                      </a: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Development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 Weeks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Phase</a:t>
                      </a:r>
                      <a:r>
                        <a:rPr sz="17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Backend</a:t>
                      </a:r>
                      <a:r>
                        <a:rPr sz="17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Development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 Weeks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Phase</a:t>
                      </a:r>
                      <a:r>
                        <a:rPr sz="17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Database</a:t>
                      </a:r>
                      <a:r>
                        <a:rPr sz="17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Integration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1700" spc="-20" dirty="0">
                          <a:latin typeface="Times New Roman" panose="02020603050405020304"/>
                          <a:cs typeface="Times New Roman" panose="02020603050405020304"/>
                        </a:rPr>
                        <a:t>Week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Phase</a:t>
                      </a:r>
                      <a:r>
                        <a:rPr sz="17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0" dirty="0">
                          <a:latin typeface="Times New Roman" panose="02020603050405020304"/>
                          <a:cs typeface="Times New Roman" panose="02020603050405020304"/>
                        </a:rPr>
                        <a:t>Testing</a:t>
                      </a:r>
                      <a:r>
                        <a:rPr sz="17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17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Debugging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1700" spc="-20" dirty="0">
                          <a:latin typeface="Times New Roman" panose="02020603050405020304"/>
                          <a:cs typeface="Times New Roman" panose="02020603050405020304"/>
                        </a:rPr>
                        <a:t>Week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Phase</a:t>
                      </a:r>
                      <a:r>
                        <a:rPr sz="17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50" dirty="0"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Documentation</a:t>
                      </a:r>
                      <a:r>
                        <a:rPr sz="17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17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spc="-10" dirty="0">
                          <a:latin typeface="Times New Roman" panose="02020603050405020304"/>
                          <a:cs typeface="Times New Roman" panose="02020603050405020304"/>
                        </a:rPr>
                        <a:t>Submission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1700" spc="-20" dirty="0">
                          <a:latin typeface="Times New Roman" panose="02020603050405020304"/>
                          <a:cs typeface="Times New Roman" panose="02020603050405020304"/>
                        </a:rPr>
                        <a:t>Week</a:t>
                      </a: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1478" y="2615585"/>
            <a:ext cx="54400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spc="60" dirty="0">
                <a:solidFill>
                  <a:srgbClr val="0060AA"/>
                </a:solidFill>
                <a:latin typeface="Times New Roman" panose="02020603050405020304"/>
                <a:cs typeface="Times New Roman" panose="02020603050405020304"/>
              </a:rPr>
              <a:t>THANK</a:t>
            </a:r>
            <a:r>
              <a:rPr sz="7200" b="0" spc="-5" dirty="0">
                <a:solidFill>
                  <a:srgbClr val="0060A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200" b="0" spc="-80" dirty="0">
                <a:solidFill>
                  <a:srgbClr val="E31E24"/>
                </a:solidFill>
                <a:latin typeface="Times New Roman" panose="02020603050405020304"/>
                <a:cs typeface="Times New Roman" panose="02020603050405020304"/>
              </a:rPr>
              <a:t>YOU</a:t>
            </a:r>
            <a:endParaRPr sz="7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5248</Words>
  <Application>WPS Presentation</Application>
  <PresentationFormat>On-screen Show (4:3)</PresentationFormat>
  <Paragraphs>198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Verdana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Disaster Allocation System</vt:lpstr>
      <vt:lpstr>Project Overview</vt:lpstr>
      <vt:lpstr>Specific Objectives</vt:lpstr>
      <vt:lpstr>Key	Features</vt:lpstr>
      <vt:lpstr>PowerPoint 演示文稿</vt:lpstr>
      <vt:lpstr>Project Usecases &amp;	Scope</vt:lpstr>
      <vt:lpstr>Prototype/Project Flow	diagram/ Architecture</vt:lpstr>
      <vt:lpstr>PowerPoint 演示文稿</vt:lpstr>
      <vt:lpstr>Data &amp;	Resources</vt:lpstr>
      <vt:lpstr>Methodology</vt:lpstr>
      <vt:lpstr>Expected	Results &amp;	Impact</vt:lpstr>
      <vt:lpstr>Project Timeline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 final year </dc:title>
  <dc:creator/>
  <cp:lastModifiedBy>Shikha Jha</cp:lastModifiedBy>
  <cp:revision>1</cp:revision>
  <dcterms:created xsi:type="dcterms:W3CDTF">2026-01-30T06:20:23Z</dcterms:created>
  <dcterms:modified xsi:type="dcterms:W3CDTF">2026-01-30T06:20:23Z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2026-01-29T05:30:00Z</vt:filetime>
  </property>
  <property fmtid="{D5CDD505-2E9C-101B-9397-08002B2CF9AE}" pid="3" name="Creator">
    <vt:lpwstr>Keynote</vt:lpwstr>
  </property>
  <property fmtid="{D5CDD505-2E9C-101B-9397-08002B2CF9AE}" pid="4" name="LastSaved">
    <vt:filetime>2026-01-30T05:30:00Z</vt:filetime>
  </property>
  <property fmtid="{D5CDD505-2E9C-101B-9397-08002B2CF9AE}" pid="5" name="Producer">
    <vt:lpwstr>macOS Version 26.1 (Build 25B78) Quartz PDFContext</vt:lpwstr>
  </property>
  <property fmtid="{D5CDD505-2E9C-101B-9397-08002B2CF9AE}" pid="6" name="ICV">
    <vt:lpwstr>0DE959149CFB4CFC89A6EC8292804AE1_13</vt:lpwstr>
  </property>
  <property fmtid="{D5CDD505-2E9C-101B-9397-08002B2CF9AE}" pid="7" name="KSOProductBuildVer">
    <vt:lpwstr>1033-12.2.0.23196</vt:lpwstr>
  </property>
</Properties>
</file>